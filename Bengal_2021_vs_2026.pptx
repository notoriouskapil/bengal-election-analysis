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West Bengal assembly elections, built from the Election Commission's own statistical reports. I built the dataset, wrote the queries, made the charts.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Findings one and two are first-past-the-post doing what it does. Finding three is the one that changes how you read the headline turnout figure.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assertions matter more than the cleaning. If the ECI reissues a workbook the pipeline fails loudly instead of quietly producing different numbers.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82.15% in 2021. 93.58% reported in 2026. 87.12% if you hold the roll fixed. The roll fell by 5.05 million across 293 seats and 241 of them lost voters. What drove the revision is not something this data can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Seat share is over 293, not 294: Falta held no poll in 2026. TMC sits on the other side of the same mechanism — 41.1% of votes, 27.3% of seats.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single seat flipped against the tide. The two-way flip matrix is the only join that answers this — a name join silently fans 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roll revision is the open question. I can measure the effect. I cannot say what caused it, and I am not going to guess on a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slope chart is the setup for the vote-to-seat slide, not a separate finding.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Rajarhat New Town came down to 316 votes.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regions built from the district mapping, which is inferred. A boundary error would move a region's number but not its 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74519"/>
            <a:ext cx="137160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40280"/>
            <a:ext cx="10515600" cy="2011680"/>
          </a:xfrm>
          <a:prstGeom prst="rect">
            <a:avLst/>
          </a:prstGeom>
          <a:noFill/>
        </p:spPr>
        <p:txBody>
          <a:bodyPr wrap="square" lIns="0" rIns="0" tIns="0" bIns="0">
            <a:spAutoFit/>
          </a:bodyPr>
          <a:lstStyle/>
          <a:p>
            <a:pPr algn="l">
              <a:lnSpc>
                <a:spcPct val="105000"/>
              </a:lnSpc>
            </a:pPr>
            <a:r>
              <a:rPr sz="4600" b="1">
                <a:solidFill>
                  <a:srgbClr val="16150F"/>
                </a:solidFill>
                <a:latin typeface="Helvetica Neue"/>
              </a:rPr>
              <a:t>West Bengal</a:t>
            </a:r>
          </a:p>
          <a:p>
            <a:pPr algn="l">
              <a:lnSpc>
                <a:spcPct val="105000"/>
              </a:lnSpc>
            </a:pPr>
            <a:r>
              <a:rPr sz="4600" b="1">
                <a:solidFill>
                  <a:srgbClr val="16150F"/>
                </a:solidFill>
                <a:latin typeface="Helvetica Neue"/>
              </a:rPr>
              <a:t>2021 vs 2026</a:t>
            </a:r>
          </a:p>
        </p:txBody>
      </p:sp>
      <p:sp>
        <p:nvSpPr>
          <p:cNvPr id="5" name="TextBox 4"/>
          <p:cNvSpPr txBox="1"/>
          <p:nvPr/>
        </p:nvSpPr>
        <p:spPr>
          <a:xfrm>
            <a:off x="822960" y="4343400"/>
            <a:ext cx="10515600" cy="731520"/>
          </a:xfrm>
          <a:prstGeom prst="rect">
            <a:avLst/>
          </a:prstGeom>
          <a:noFill/>
        </p:spPr>
        <p:txBody>
          <a:bodyPr wrap="square" lIns="0" rIns="0" tIns="0" bIns="0">
            <a:spAutoFit/>
          </a:bodyPr>
          <a:lstStyle/>
          <a:p>
            <a:pPr algn="l"/>
            <a:r>
              <a:rPr sz="1500" b="0">
                <a:solidFill>
                  <a:srgbClr val="52514E"/>
                </a:solidFill>
                <a:latin typeface="Helvetica Neue"/>
              </a:rPr>
              <a:t>294 constituencies  ·  5,052 candidacies</a:t>
            </a:r>
          </a:p>
          <a:p>
            <a:pPr algn="l"/>
            <a:r>
              <a:rPr sz="1500" b="0">
                <a:solidFill>
                  <a:srgbClr val="52514E"/>
                </a:solidFill>
                <a:latin typeface="Helvetica Neue"/>
              </a:rPr>
              <a:t>two elections, compared seat by seat</a:t>
            </a:r>
          </a:p>
        </p:txBody>
      </p:sp>
      <p:sp>
        <p:nvSpPr>
          <p:cNvPr id="6" name="Rectangle 5"/>
          <p:cNvSpPr/>
          <p:nvPr/>
        </p:nvSpPr>
        <p:spPr>
          <a:xfrm>
            <a:off x="822960" y="5715000"/>
            <a:ext cx="10515600" cy="10972"/>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943600"/>
            <a:ext cx="10515600" cy="457200"/>
          </a:xfrm>
          <a:prstGeom prst="rect">
            <a:avLst/>
          </a:prstGeom>
          <a:noFill/>
        </p:spPr>
        <p:txBody>
          <a:bodyPr wrap="square" lIns="0" rIns="0" tIns="0" bIns="0">
            <a:spAutoFit/>
          </a:bodyPr>
          <a:lstStyle/>
          <a:p>
            <a:pPr algn="l"/>
            <a:r>
              <a:rPr sz="1150" b="0">
                <a:solidFill>
                  <a:srgbClr val="8A8782"/>
                </a:solidFill>
                <a:latin typeface="Helvetica Neue"/>
              </a:rPr>
              <a:t>Kapil   ·   github.com/notoriouskapil/bengal-election-analysis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515600" cy="731520"/>
          </a:xfrm>
          <a:prstGeom prst="rect">
            <a:avLst/>
          </a:prstGeom>
          <a:noFill/>
        </p:spPr>
        <p:txBody>
          <a:bodyPr wrap="square" lIns="0" rIns="0" tIns="0" bIns="0">
            <a:spAutoFit/>
          </a:bodyPr>
          <a:lstStyle/>
          <a:p>
            <a:pPr algn="l"/>
            <a:r>
              <a:rPr sz="3000" b="1">
                <a:solidFill>
                  <a:srgbClr val="16150F"/>
                </a:solidFill>
                <a:latin typeface="Helvetica Neue"/>
              </a:rPr>
              <a:t>Four numbers</a:t>
            </a:r>
          </a:p>
        </p:txBody>
      </p:sp>
      <p:sp>
        <p:nvSpPr>
          <p:cNvPr id="4" name="Rectangle 3"/>
          <p:cNvSpPr/>
          <p:nvPr/>
        </p:nvSpPr>
        <p:spPr>
          <a:xfrm>
            <a:off x="822960" y="1481328"/>
            <a:ext cx="1371600" cy="457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084832"/>
            <a:ext cx="50292" cy="56692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011680"/>
            <a:ext cx="4937760" cy="640080"/>
          </a:xfrm>
          <a:prstGeom prst="rect">
            <a:avLst/>
          </a:prstGeom>
          <a:noFill/>
        </p:spPr>
        <p:txBody>
          <a:bodyPr wrap="square" lIns="0" rIns="0" tIns="0" bIns="0">
            <a:spAutoFit/>
          </a:bodyPr>
          <a:lstStyle/>
          <a:p>
            <a:pPr algn="l"/>
            <a:r>
              <a:rPr sz="1900" b="0">
                <a:solidFill>
                  <a:srgbClr val="16150F"/>
                </a:solidFill>
                <a:latin typeface="Helvetica Neue"/>
              </a:rPr>
              <a:t>BJP: 46.2% of votes</a:t>
            </a:r>
          </a:p>
        </p:txBody>
      </p:sp>
      <p:sp>
        <p:nvSpPr>
          <p:cNvPr id="7" name="TextBox 6"/>
          <p:cNvSpPr txBox="1"/>
          <p:nvPr/>
        </p:nvSpPr>
        <p:spPr>
          <a:xfrm>
            <a:off x="6035040" y="2011680"/>
            <a:ext cx="5486400" cy="640080"/>
          </a:xfrm>
          <a:prstGeom prst="rect">
            <a:avLst/>
          </a:prstGeom>
          <a:noFill/>
        </p:spPr>
        <p:txBody>
          <a:bodyPr wrap="square" lIns="0" rIns="0" tIns="0" bIns="0">
            <a:spAutoFit/>
          </a:bodyPr>
          <a:lstStyle/>
          <a:p>
            <a:pPr algn="l"/>
            <a:r>
              <a:rPr sz="1900" b="1">
                <a:solidFill>
                  <a:srgbClr val="EB6834"/>
                </a:solidFill>
                <a:latin typeface="Helvetica Neue"/>
              </a:rPr>
              <a:t>70.6% of seats</a:t>
            </a:r>
          </a:p>
        </p:txBody>
      </p:sp>
      <p:sp>
        <p:nvSpPr>
          <p:cNvPr id="8" name="Rectangle 7"/>
          <p:cNvSpPr/>
          <p:nvPr/>
        </p:nvSpPr>
        <p:spPr>
          <a:xfrm>
            <a:off x="822960" y="3072384"/>
            <a:ext cx="50292" cy="56692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999232"/>
            <a:ext cx="4937760" cy="640080"/>
          </a:xfrm>
          <a:prstGeom prst="rect">
            <a:avLst/>
          </a:prstGeom>
          <a:noFill/>
        </p:spPr>
        <p:txBody>
          <a:bodyPr wrap="square" lIns="0" rIns="0" tIns="0" bIns="0">
            <a:spAutoFit/>
          </a:bodyPr>
          <a:lstStyle/>
          <a:p>
            <a:pPr algn="l"/>
            <a:r>
              <a:rPr sz="1900" b="0">
                <a:solidFill>
                  <a:srgbClr val="16150F"/>
                </a:solidFill>
                <a:latin typeface="Helvetica Neue"/>
              </a:rPr>
              <a:t>129 seats TMC → BJP</a:t>
            </a:r>
          </a:p>
        </p:txBody>
      </p:sp>
      <p:sp>
        <p:nvSpPr>
          <p:cNvPr id="10" name="TextBox 9"/>
          <p:cNvSpPr txBox="1"/>
          <p:nvPr/>
        </p:nvSpPr>
        <p:spPr>
          <a:xfrm>
            <a:off x="6035040" y="2999232"/>
            <a:ext cx="5486400" cy="640080"/>
          </a:xfrm>
          <a:prstGeom prst="rect">
            <a:avLst/>
          </a:prstGeom>
          <a:noFill/>
        </p:spPr>
        <p:txBody>
          <a:bodyPr wrap="square" lIns="0" rIns="0" tIns="0" bIns="0">
            <a:spAutoFit/>
          </a:bodyPr>
          <a:lstStyle/>
          <a:p>
            <a:pPr algn="l"/>
            <a:r>
              <a:rPr sz="1900" b="1">
                <a:solidFill>
                  <a:srgbClr val="EB6834"/>
                </a:solidFill>
                <a:latin typeface="Helvetica Neue"/>
              </a:rPr>
              <a:t>Zero returned</a:t>
            </a:r>
          </a:p>
        </p:txBody>
      </p:sp>
      <p:sp>
        <p:nvSpPr>
          <p:cNvPr id="11" name="Rectangle 10"/>
          <p:cNvSpPr/>
          <p:nvPr/>
        </p:nvSpPr>
        <p:spPr>
          <a:xfrm>
            <a:off x="822960" y="4059936"/>
            <a:ext cx="50292" cy="5669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986784"/>
            <a:ext cx="4937760" cy="640080"/>
          </a:xfrm>
          <a:prstGeom prst="rect">
            <a:avLst/>
          </a:prstGeom>
          <a:noFill/>
        </p:spPr>
        <p:txBody>
          <a:bodyPr wrap="square" lIns="0" rIns="0" tIns="0" bIns="0">
            <a:spAutoFit/>
          </a:bodyPr>
          <a:lstStyle/>
          <a:p>
            <a:pPr algn="l"/>
            <a:r>
              <a:rPr sz="1900" b="0">
                <a:solidFill>
                  <a:srgbClr val="16150F"/>
                </a:solidFill>
                <a:latin typeface="Helvetica Neue"/>
              </a:rPr>
              <a:t>Turnout 82.2% → 93.6%</a:t>
            </a:r>
          </a:p>
        </p:txBody>
      </p:sp>
      <p:sp>
        <p:nvSpPr>
          <p:cNvPr id="13" name="TextBox 12"/>
          <p:cNvSpPr txBox="1"/>
          <p:nvPr/>
        </p:nvSpPr>
        <p:spPr>
          <a:xfrm>
            <a:off x="6035040" y="3986784"/>
            <a:ext cx="5486400" cy="640080"/>
          </a:xfrm>
          <a:prstGeom prst="rect">
            <a:avLst/>
          </a:prstGeom>
          <a:noFill/>
        </p:spPr>
        <p:txBody>
          <a:bodyPr wrap="square" lIns="0" rIns="0" tIns="0" bIns="0">
            <a:spAutoFit/>
          </a:bodyPr>
          <a:lstStyle/>
          <a:p>
            <a:pPr algn="l"/>
            <a:r>
              <a:rPr sz="1900" b="1">
                <a:solidFill>
                  <a:srgbClr val="2A78D6"/>
                </a:solidFill>
                <a:latin typeface="Helvetica Neue"/>
              </a:rPr>
              <a:t>5m names left the roll</a:t>
            </a:r>
          </a:p>
        </p:txBody>
      </p:sp>
      <p:sp>
        <p:nvSpPr>
          <p:cNvPr id="14" name="Rectangle 13"/>
          <p:cNvSpPr/>
          <p:nvPr/>
        </p:nvSpPr>
        <p:spPr>
          <a:xfrm>
            <a:off x="822960" y="5047488"/>
            <a:ext cx="50292" cy="566928"/>
          </a:xfrm>
          <a:prstGeom prst="rect">
            <a:avLst/>
          </a:prstGeom>
          <a:solidFill>
            <a:srgbClr val="0F6B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4974336"/>
            <a:ext cx="4937760" cy="640080"/>
          </a:xfrm>
          <a:prstGeom prst="rect">
            <a:avLst/>
          </a:prstGeom>
          <a:noFill/>
        </p:spPr>
        <p:txBody>
          <a:bodyPr wrap="square" lIns="0" rIns="0" tIns="0" bIns="0">
            <a:spAutoFit/>
          </a:bodyPr>
          <a:lstStyle/>
          <a:p>
            <a:pPr algn="l"/>
            <a:r>
              <a:rPr sz="1900" b="0">
                <a:solidFill>
                  <a:srgbClr val="16150F"/>
                </a:solidFill>
                <a:latin typeface="Helvetica Neue"/>
              </a:rPr>
              <a:t>TMC fell in all 8 regions</a:t>
            </a:r>
          </a:p>
        </p:txBody>
      </p:sp>
      <p:sp>
        <p:nvSpPr>
          <p:cNvPr id="16" name="TextBox 15"/>
          <p:cNvSpPr txBox="1"/>
          <p:nvPr/>
        </p:nvSpPr>
        <p:spPr>
          <a:xfrm>
            <a:off x="6035040" y="4974336"/>
            <a:ext cx="5486400" cy="640080"/>
          </a:xfrm>
          <a:prstGeom prst="rect">
            <a:avLst/>
          </a:prstGeom>
          <a:noFill/>
        </p:spPr>
        <p:txBody>
          <a:bodyPr wrap="square" lIns="0" rIns="0" tIns="0" bIns="0">
            <a:spAutoFit/>
          </a:bodyPr>
          <a:lstStyle/>
          <a:p>
            <a:pPr algn="l"/>
            <a:r>
              <a:rPr sz="1900" b="1">
                <a:solidFill>
                  <a:srgbClr val="0F6B42"/>
                </a:solidFill>
                <a:latin typeface="Helvetica Neue"/>
              </a:rPr>
              <a:t>worst: 50% → 36%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515600" cy="731520"/>
          </a:xfrm>
          <a:prstGeom prst="rect">
            <a:avLst/>
          </a:prstGeom>
          <a:noFill/>
        </p:spPr>
        <p:txBody>
          <a:bodyPr wrap="square" lIns="0" rIns="0" tIns="0" bIns="0">
            <a:spAutoFit/>
          </a:bodyPr>
          <a:lstStyle/>
          <a:p>
            <a:pPr algn="l"/>
            <a:r>
              <a:rPr sz="3000" b="1">
                <a:solidFill>
                  <a:srgbClr val="16150F"/>
                </a:solidFill>
                <a:latin typeface="Helvetica Neue"/>
              </a:rPr>
              <a:t>Where this came from</a:t>
            </a:r>
          </a:p>
        </p:txBody>
      </p:sp>
      <p:sp>
        <p:nvSpPr>
          <p:cNvPr id="4" name="Rectangle 3"/>
          <p:cNvSpPr/>
          <p:nvPr/>
        </p:nvSpPr>
        <p:spPr>
          <a:xfrm>
            <a:off x="822960" y="1481328"/>
            <a:ext cx="1371600" cy="457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74519"/>
            <a:ext cx="5669280" cy="2011680"/>
          </a:xfrm>
          <a:prstGeom prst="rect">
            <a:avLst/>
          </a:prstGeom>
          <a:noFill/>
        </p:spPr>
        <p:txBody>
          <a:bodyPr wrap="square" lIns="0" rIns="0" tIns="0" bIns="0">
            <a:spAutoFit/>
          </a:bodyPr>
          <a:lstStyle/>
          <a:p>
            <a:pPr algn="l">
              <a:lnSpc>
                <a:spcPct val="145000"/>
              </a:lnSpc>
            </a:pPr>
            <a:r>
              <a:rPr sz="1600" b="0">
                <a:solidFill>
                  <a:srgbClr val="52514E"/>
                </a:solidFill>
                <a:latin typeface="Helvetica Neue"/>
              </a:rPr>
              <a:t>15 ECI statistical workbooks covering both elections, reshaped into seven tables and checked back against the totals ECI publishes in its own Highlight report.</a:t>
            </a:r>
          </a:p>
        </p:txBody>
      </p:sp>
      <p:sp>
        <p:nvSpPr>
          <p:cNvPr id="6" name="Rectangle 5"/>
          <p:cNvSpPr/>
          <p:nvPr/>
        </p:nvSpPr>
        <p:spPr>
          <a:xfrm>
            <a:off x="6858000" y="1783080"/>
            <a:ext cx="4526280" cy="2834640"/>
          </a:xfrm>
          <a:prstGeom prst="rect">
            <a:avLst/>
          </a:prstGeom>
          <a:solidFill>
            <a:srgbClr val="F4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78040" y="2057400"/>
            <a:ext cx="457200" cy="365760"/>
          </a:xfrm>
          <a:prstGeom prst="rect">
            <a:avLst/>
          </a:prstGeom>
          <a:noFill/>
        </p:spPr>
        <p:txBody>
          <a:bodyPr wrap="square" lIns="0" rIns="0" tIns="0" bIns="0">
            <a:spAutoFit/>
          </a:bodyPr>
          <a:lstStyle/>
          <a:p>
            <a:pPr algn="l"/>
            <a:r>
              <a:rPr sz="1200" b="1">
                <a:solidFill>
                  <a:srgbClr val="0F6B42"/>
                </a:solidFill>
                <a:latin typeface="Menlo"/>
              </a:rPr>
              <a:t>ok</a:t>
            </a:r>
          </a:p>
        </p:txBody>
      </p:sp>
      <p:sp>
        <p:nvSpPr>
          <p:cNvPr id="8" name="TextBox 7"/>
          <p:cNvSpPr txBox="1"/>
          <p:nvPr/>
        </p:nvSpPr>
        <p:spPr>
          <a:xfrm>
            <a:off x="7726679" y="2057400"/>
            <a:ext cx="2377440" cy="365760"/>
          </a:xfrm>
          <a:prstGeom prst="rect">
            <a:avLst/>
          </a:prstGeom>
          <a:noFill/>
        </p:spPr>
        <p:txBody>
          <a:bodyPr wrap="square" lIns="0" rIns="0" tIns="0" bIns="0">
            <a:spAutoFit/>
          </a:bodyPr>
          <a:lstStyle/>
          <a:p>
            <a:pPr algn="l"/>
            <a:r>
              <a:rPr sz="1200" b="0">
                <a:solidFill>
                  <a:srgbClr val="52514E"/>
                </a:solidFill>
                <a:latin typeface="Menlo"/>
              </a:rPr>
              <a:t>electors, 293 polled seats</a:t>
            </a:r>
          </a:p>
        </p:txBody>
      </p:sp>
      <p:sp>
        <p:nvSpPr>
          <p:cNvPr id="9" name="TextBox 8"/>
          <p:cNvSpPr txBox="1"/>
          <p:nvPr/>
        </p:nvSpPr>
        <p:spPr>
          <a:xfrm>
            <a:off x="9418320" y="2057400"/>
            <a:ext cx="1783080" cy="365760"/>
          </a:xfrm>
          <a:prstGeom prst="rect">
            <a:avLst/>
          </a:prstGeom>
          <a:noFill/>
        </p:spPr>
        <p:txBody>
          <a:bodyPr wrap="square" lIns="0" rIns="0" tIns="0" bIns="0">
            <a:spAutoFit/>
          </a:bodyPr>
          <a:lstStyle/>
          <a:p>
            <a:pPr algn="r"/>
            <a:r>
              <a:rPr sz="1200" b="0">
                <a:solidFill>
                  <a:srgbClr val="16150F"/>
                </a:solidFill>
                <a:latin typeface="Menlo"/>
              </a:rPr>
              <a:t>68,125,496</a:t>
            </a:r>
          </a:p>
        </p:txBody>
      </p:sp>
      <p:sp>
        <p:nvSpPr>
          <p:cNvPr id="10" name="TextBox 9"/>
          <p:cNvSpPr txBox="1"/>
          <p:nvPr/>
        </p:nvSpPr>
        <p:spPr>
          <a:xfrm>
            <a:off x="7178040" y="2624328"/>
            <a:ext cx="457200" cy="365760"/>
          </a:xfrm>
          <a:prstGeom prst="rect">
            <a:avLst/>
          </a:prstGeom>
          <a:noFill/>
        </p:spPr>
        <p:txBody>
          <a:bodyPr wrap="square" lIns="0" rIns="0" tIns="0" bIns="0">
            <a:spAutoFit/>
          </a:bodyPr>
          <a:lstStyle/>
          <a:p>
            <a:pPr algn="l"/>
            <a:r>
              <a:rPr sz="1200" b="1">
                <a:solidFill>
                  <a:srgbClr val="0F6B42"/>
                </a:solidFill>
                <a:latin typeface="Menlo"/>
              </a:rPr>
              <a:t>ok</a:t>
            </a:r>
          </a:p>
        </p:txBody>
      </p:sp>
      <p:sp>
        <p:nvSpPr>
          <p:cNvPr id="11" name="TextBox 10"/>
          <p:cNvSpPr txBox="1"/>
          <p:nvPr/>
        </p:nvSpPr>
        <p:spPr>
          <a:xfrm>
            <a:off x="7726679" y="2624328"/>
            <a:ext cx="2377440" cy="365760"/>
          </a:xfrm>
          <a:prstGeom prst="rect">
            <a:avLst/>
          </a:prstGeom>
          <a:noFill/>
        </p:spPr>
        <p:txBody>
          <a:bodyPr wrap="square" lIns="0" rIns="0" tIns="0" bIns="0">
            <a:spAutoFit/>
          </a:bodyPr>
          <a:lstStyle/>
          <a:p>
            <a:pPr algn="l"/>
            <a:r>
              <a:rPr sz="1200" b="0">
                <a:solidFill>
                  <a:srgbClr val="52514E"/>
                </a:solidFill>
                <a:latin typeface="Menlo"/>
              </a:rPr>
              <a:t>valid votes</a:t>
            </a:r>
          </a:p>
        </p:txBody>
      </p:sp>
      <p:sp>
        <p:nvSpPr>
          <p:cNvPr id="12" name="TextBox 11"/>
          <p:cNvSpPr txBox="1"/>
          <p:nvPr/>
        </p:nvSpPr>
        <p:spPr>
          <a:xfrm>
            <a:off x="9418320" y="2624328"/>
            <a:ext cx="1783080" cy="365760"/>
          </a:xfrm>
          <a:prstGeom prst="rect">
            <a:avLst/>
          </a:prstGeom>
          <a:noFill/>
        </p:spPr>
        <p:txBody>
          <a:bodyPr wrap="square" lIns="0" rIns="0" tIns="0" bIns="0">
            <a:spAutoFit/>
          </a:bodyPr>
          <a:lstStyle/>
          <a:p>
            <a:pPr algn="r"/>
            <a:r>
              <a:rPr sz="1200" b="0">
                <a:solidFill>
                  <a:srgbClr val="16150F"/>
                </a:solidFill>
                <a:latin typeface="Menlo"/>
              </a:rPr>
              <a:t>63,258,138</a:t>
            </a:r>
          </a:p>
        </p:txBody>
      </p:sp>
      <p:sp>
        <p:nvSpPr>
          <p:cNvPr id="13" name="TextBox 12"/>
          <p:cNvSpPr txBox="1"/>
          <p:nvPr/>
        </p:nvSpPr>
        <p:spPr>
          <a:xfrm>
            <a:off x="7178040" y="3191256"/>
            <a:ext cx="457200" cy="365760"/>
          </a:xfrm>
          <a:prstGeom prst="rect">
            <a:avLst/>
          </a:prstGeom>
          <a:noFill/>
        </p:spPr>
        <p:txBody>
          <a:bodyPr wrap="square" lIns="0" rIns="0" tIns="0" bIns="0">
            <a:spAutoFit/>
          </a:bodyPr>
          <a:lstStyle/>
          <a:p>
            <a:pPr algn="l"/>
            <a:r>
              <a:rPr sz="1200" b="1">
                <a:solidFill>
                  <a:srgbClr val="0F6B42"/>
                </a:solidFill>
                <a:latin typeface="Menlo"/>
              </a:rPr>
              <a:t>ok</a:t>
            </a:r>
          </a:p>
        </p:txBody>
      </p:sp>
      <p:sp>
        <p:nvSpPr>
          <p:cNvPr id="14" name="TextBox 13"/>
          <p:cNvSpPr txBox="1"/>
          <p:nvPr/>
        </p:nvSpPr>
        <p:spPr>
          <a:xfrm>
            <a:off x="7726679" y="3191256"/>
            <a:ext cx="2377440" cy="365760"/>
          </a:xfrm>
          <a:prstGeom prst="rect">
            <a:avLst/>
          </a:prstGeom>
          <a:noFill/>
        </p:spPr>
        <p:txBody>
          <a:bodyPr wrap="square" lIns="0" rIns="0" tIns="0" bIns="0">
            <a:spAutoFit/>
          </a:bodyPr>
          <a:lstStyle/>
          <a:p>
            <a:pPr algn="l"/>
            <a:r>
              <a:rPr sz="1200" b="0">
                <a:solidFill>
                  <a:srgbClr val="52514E"/>
                </a:solidFill>
                <a:latin typeface="Menlo"/>
              </a:rPr>
              <a:t>NOTA votes</a:t>
            </a:r>
          </a:p>
        </p:txBody>
      </p:sp>
      <p:sp>
        <p:nvSpPr>
          <p:cNvPr id="15" name="TextBox 14"/>
          <p:cNvSpPr txBox="1"/>
          <p:nvPr/>
        </p:nvSpPr>
        <p:spPr>
          <a:xfrm>
            <a:off x="9418320" y="3191256"/>
            <a:ext cx="1783080" cy="365760"/>
          </a:xfrm>
          <a:prstGeom prst="rect">
            <a:avLst/>
          </a:prstGeom>
          <a:noFill/>
        </p:spPr>
        <p:txBody>
          <a:bodyPr wrap="square" lIns="0" rIns="0" tIns="0" bIns="0">
            <a:spAutoFit/>
          </a:bodyPr>
          <a:lstStyle/>
          <a:p>
            <a:pPr algn="r"/>
            <a:r>
              <a:rPr sz="1200" b="0">
                <a:solidFill>
                  <a:srgbClr val="16150F"/>
                </a:solidFill>
                <a:latin typeface="Menlo"/>
              </a:rPr>
              <a:t>494,932</a:t>
            </a:r>
          </a:p>
        </p:txBody>
      </p:sp>
      <p:sp>
        <p:nvSpPr>
          <p:cNvPr id="16" name="TextBox 15"/>
          <p:cNvSpPr txBox="1"/>
          <p:nvPr/>
        </p:nvSpPr>
        <p:spPr>
          <a:xfrm>
            <a:off x="7178040" y="3758184"/>
            <a:ext cx="457200" cy="365760"/>
          </a:xfrm>
          <a:prstGeom prst="rect">
            <a:avLst/>
          </a:prstGeom>
          <a:noFill/>
        </p:spPr>
        <p:txBody>
          <a:bodyPr wrap="square" lIns="0" rIns="0" tIns="0" bIns="0">
            <a:spAutoFit/>
          </a:bodyPr>
          <a:lstStyle/>
          <a:p>
            <a:pPr algn="l"/>
            <a:r>
              <a:rPr sz="1200" b="1">
                <a:solidFill>
                  <a:srgbClr val="0F6B42"/>
                </a:solidFill>
                <a:latin typeface="Menlo"/>
              </a:rPr>
              <a:t>ok</a:t>
            </a:r>
          </a:p>
        </p:txBody>
      </p:sp>
      <p:sp>
        <p:nvSpPr>
          <p:cNvPr id="17" name="TextBox 16"/>
          <p:cNvSpPr txBox="1"/>
          <p:nvPr/>
        </p:nvSpPr>
        <p:spPr>
          <a:xfrm>
            <a:off x="7726679" y="3758184"/>
            <a:ext cx="2377440" cy="365760"/>
          </a:xfrm>
          <a:prstGeom prst="rect">
            <a:avLst/>
          </a:prstGeom>
          <a:noFill/>
        </p:spPr>
        <p:txBody>
          <a:bodyPr wrap="square" lIns="0" rIns="0" tIns="0" bIns="0">
            <a:spAutoFit/>
          </a:bodyPr>
          <a:lstStyle/>
          <a:p>
            <a:pPr algn="l"/>
            <a:r>
              <a:rPr sz="1200" b="0">
                <a:solidFill>
                  <a:srgbClr val="52514E"/>
                </a:solidFill>
                <a:latin typeface="Menlo"/>
              </a:rPr>
              <a:t>contestants</a:t>
            </a:r>
          </a:p>
        </p:txBody>
      </p:sp>
      <p:sp>
        <p:nvSpPr>
          <p:cNvPr id="18" name="TextBox 17"/>
          <p:cNvSpPr txBox="1"/>
          <p:nvPr/>
        </p:nvSpPr>
        <p:spPr>
          <a:xfrm>
            <a:off x="9418320" y="3758184"/>
            <a:ext cx="1783080" cy="365760"/>
          </a:xfrm>
          <a:prstGeom prst="rect">
            <a:avLst/>
          </a:prstGeom>
          <a:noFill/>
        </p:spPr>
        <p:txBody>
          <a:bodyPr wrap="square" lIns="0" rIns="0" tIns="0" bIns="0">
            <a:spAutoFit/>
          </a:bodyPr>
          <a:lstStyle/>
          <a:p>
            <a:pPr algn="r"/>
            <a:r>
              <a:rPr sz="1200" b="0">
                <a:solidFill>
                  <a:srgbClr val="16150F"/>
                </a:solidFill>
                <a:latin typeface="Menlo"/>
              </a:rPr>
              <a:t>2,920</a:t>
            </a:r>
          </a:p>
        </p:txBody>
      </p:sp>
      <p:sp>
        <p:nvSpPr>
          <p:cNvPr id="19" name="TextBox 18"/>
          <p:cNvSpPr txBox="1"/>
          <p:nvPr/>
        </p:nvSpPr>
        <p:spPr>
          <a:xfrm>
            <a:off x="822960" y="5074920"/>
            <a:ext cx="10515600" cy="731520"/>
          </a:xfrm>
          <a:prstGeom prst="rect">
            <a:avLst/>
          </a:prstGeom>
          <a:noFill/>
        </p:spPr>
        <p:txBody>
          <a:bodyPr wrap="square" lIns="0" rIns="0" tIns="0" bIns="0">
            <a:spAutoFit/>
          </a:bodyPr>
          <a:lstStyle/>
          <a:p>
            <a:pPr algn="l"/>
            <a:r>
              <a:rPr sz="1250" b="0">
                <a:solidFill>
                  <a:srgbClr val="8A8782"/>
                </a:solidFill>
                <a:latin typeface="Helvetica Neue"/>
              </a:rPr>
              <a:t>Every figure reconciles to the published report. Nine defects in the source data found and corrected — including constituency names that match 0 of 294 across the two years.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5486400" cy="320040"/>
          </a:xfrm>
          <a:prstGeom prst="rect">
            <a:avLst/>
          </a:prstGeom>
          <a:noFill/>
        </p:spPr>
        <p:txBody>
          <a:bodyPr wrap="square" lIns="0" rIns="0" tIns="0" bIns="0">
            <a:spAutoFit/>
          </a:bodyPr>
          <a:lstStyle/>
          <a:p>
            <a:pPr algn="l"/>
            <a:r>
              <a:rPr sz="1100" b="1">
                <a:solidFill>
                  <a:srgbClr val="EB6834"/>
                </a:solidFill>
                <a:latin typeface="Helvetica Neue"/>
              </a:rPr>
              <a:t>FINDING 1</a:t>
            </a:r>
          </a:p>
        </p:txBody>
      </p:sp>
      <p:sp>
        <p:nvSpPr>
          <p:cNvPr id="4" name="TextBox 3"/>
          <p:cNvSpPr txBox="1"/>
          <p:nvPr/>
        </p:nvSpPr>
        <p:spPr>
          <a:xfrm>
            <a:off x="822960" y="868680"/>
            <a:ext cx="10607040" cy="914400"/>
          </a:xfrm>
          <a:prstGeom prst="rect">
            <a:avLst/>
          </a:prstGeom>
          <a:noFill/>
        </p:spPr>
        <p:txBody>
          <a:bodyPr wrap="square" lIns="0" rIns="0" tIns="0" bIns="0">
            <a:spAutoFit/>
          </a:bodyPr>
          <a:lstStyle/>
          <a:p>
            <a:pPr algn="l">
              <a:lnSpc>
                <a:spcPct val="115000"/>
              </a:lnSpc>
            </a:pPr>
            <a:r>
              <a:rPr sz="2500" b="1">
                <a:solidFill>
                  <a:srgbClr val="16150F"/>
                </a:solidFill>
                <a:latin typeface="Helvetica Neue"/>
              </a:rPr>
              <a:t>Most of the turnout rise is a smaller denominator, not more voters</a:t>
            </a:r>
          </a:p>
        </p:txBody>
      </p:sp>
      <p:pic>
        <p:nvPicPr>
          <p:cNvPr id="5" name="Picture 4" descr="06_turnout_vs_roll.png"/>
          <p:cNvPicPr>
            <a:picLocks noChangeAspect="1"/>
          </p:cNvPicPr>
          <p:nvPr/>
        </p:nvPicPr>
        <p:blipFill>
          <a:blip r:embed="rId2"/>
          <a:stretch>
            <a:fillRect/>
          </a:stretch>
        </p:blipFill>
        <p:spPr>
          <a:xfrm>
            <a:off x="822287" y="1783080"/>
            <a:ext cx="7270825" cy="4389120"/>
          </a:xfrm>
          <a:prstGeom prst="rect">
            <a:avLst/>
          </a:prstGeom>
        </p:spPr>
      </p:pic>
      <p:sp>
        <p:nvSpPr>
          <p:cNvPr id="6" name="Rectangle 5"/>
          <p:cNvSpPr/>
          <p:nvPr/>
        </p:nvSpPr>
        <p:spPr>
          <a:xfrm>
            <a:off x="8549640" y="1874519"/>
            <a:ext cx="2834640" cy="41148"/>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2103120"/>
            <a:ext cx="2834640" cy="3291840"/>
          </a:xfrm>
          <a:prstGeom prst="rect">
            <a:avLst/>
          </a:prstGeom>
          <a:noFill/>
        </p:spPr>
        <p:txBody>
          <a:bodyPr wrap="square" lIns="0" rIns="0" tIns="0" bIns="0">
            <a:spAutoFit/>
          </a:bodyPr>
          <a:lstStyle/>
          <a:p>
            <a:pPr algn="l">
              <a:lnSpc>
                <a:spcPct val="145000"/>
              </a:lnSpc>
            </a:pPr>
            <a:r>
              <a:rPr sz="1350" b="0">
                <a:solidFill>
                  <a:srgbClr val="52514E"/>
                </a:solidFill>
                <a:latin typeface="Helvetica Neue"/>
              </a:rPr>
              <a:t>Run 2026's votes against the 2021 roll and turnout reads 87.1%, not 93.6%. More than half the rise is 5 million names leaving the roll. Cause unestablished.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5486400" cy="320040"/>
          </a:xfrm>
          <a:prstGeom prst="rect">
            <a:avLst/>
          </a:prstGeom>
          <a:noFill/>
        </p:spPr>
        <p:txBody>
          <a:bodyPr wrap="square" lIns="0" rIns="0" tIns="0" bIns="0">
            <a:spAutoFit/>
          </a:bodyPr>
          <a:lstStyle/>
          <a:p>
            <a:pPr algn="l"/>
            <a:r>
              <a:rPr sz="1100" b="1">
                <a:solidFill>
                  <a:srgbClr val="EB6834"/>
                </a:solidFill>
                <a:latin typeface="Helvetica Neue"/>
              </a:rPr>
              <a:t>FINDING 2</a:t>
            </a:r>
          </a:p>
        </p:txBody>
      </p:sp>
      <p:sp>
        <p:nvSpPr>
          <p:cNvPr id="4" name="TextBox 3"/>
          <p:cNvSpPr txBox="1"/>
          <p:nvPr/>
        </p:nvSpPr>
        <p:spPr>
          <a:xfrm>
            <a:off x="822960" y="868680"/>
            <a:ext cx="10607040" cy="914400"/>
          </a:xfrm>
          <a:prstGeom prst="rect">
            <a:avLst/>
          </a:prstGeom>
          <a:noFill/>
        </p:spPr>
        <p:txBody>
          <a:bodyPr wrap="square" lIns="0" rIns="0" tIns="0" bIns="0">
            <a:spAutoFit/>
          </a:bodyPr>
          <a:lstStyle/>
          <a:p>
            <a:pPr algn="l">
              <a:lnSpc>
                <a:spcPct val="115000"/>
              </a:lnSpc>
            </a:pPr>
            <a:r>
              <a:rPr sz="2500" b="1">
                <a:solidFill>
                  <a:srgbClr val="16150F"/>
                </a:solidFill>
                <a:latin typeface="Helvetica Neue"/>
              </a:rPr>
              <a:t>46.2% of the vote. 70.6% of the seats.</a:t>
            </a:r>
          </a:p>
        </p:txBody>
      </p:sp>
      <p:pic>
        <p:nvPicPr>
          <p:cNvPr id="5" name="Picture 4" descr="02_vote_vs_seat_share.png"/>
          <p:cNvPicPr>
            <a:picLocks noChangeAspect="1"/>
          </p:cNvPicPr>
          <p:nvPr/>
        </p:nvPicPr>
        <p:blipFill>
          <a:blip r:embed="rId2"/>
          <a:stretch>
            <a:fillRect/>
          </a:stretch>
        </p:blipFill>
        <p:spPr>
          <a:xfrm>
            <a:off x="822287" y="1783080"/>
            <a:ext cx="7270825" cy="4389120"/>
          </a:xfrm>
          <a:prstGeom prst="rect">
            <a:avLst/>
          </a:prstGeom>
        </p:spPr>
      </p:pic>
      <p:sp>
        <p:nvSpPr>
          <p:cNvPr id="6" name="Rectangle 5"/>
          <p:cNvSpPr/>
          <p:nvPr/>
        </p:nvSpPr>
        <p:spPr>
          <a:xfrm>
            <a:off x="8549640" y="1874519"/>
            <a:ext cx="2834640" cy="41148"/>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2103120"/>
            <a:ext cx="2834640" cy="3291840"/>
          </a:xfrm>
          <a:prstGeom prst="rect">
            <a:avLst/>
          </a:prstGeom>
          <a:noFill/>
        </p:spPr>
        <p:txBody>
          <a:bodyPr wrap="square" lIns="0" rIns="0" tIns="0" bIns="0">
            <a:spAutoFit/>
          </a:bodyPr>
          <a:lstStyle/>
          <a:p>
            <a:pPr algn="l">
              <a:lnSpc>
                <a:spcPct val="145000"/>
              </a:lnSpc>
            </a:pPr>
            <a:r>
              <a:rPr sz="1350" b="0">
                <a:solidFill>
                  <a:srgbClr val="52514E"/>
                </a:solidFill>
                <a:latin typeface="Helvetica Neue"/>
              </a:rPr>
              <a:t>Under first-past-the-post a plurality nearly everywhere becomes a supermajority. BJP went from 38.4% of the vote to 46.2%, and gained 130 seats.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5486400" cy="320040"/>
          </a:xfrm>
          <a:prstGeom prst="rect">
            <a:avLst/>
          </a:prstGeom>
          <a:noFill/>
        </p:spPr>
        <p:txBody>
          <a:bodyPr wrap="square" lIns="0" rIns="0" tIns="0" bIns="0">
            <a:spAutoFit/>
          </a:bodyPr>
          <a:lstStyle/>
          <a:p>
            <a:pPr algn="l"/>
            <a:r>
              <a:rPr sz="1100" b="1">
                <a:solidFill>
                  <a:srgbClr val="EB6834"/>
                </a:solidFill>
                <a:latin typeface="Helvetica Neue"/>
              </a:rPr>
              <a:t>FINDING 3</a:t>
            </a:r>
          </a:p>
        </p:txBody>
      </p:sp>
      <p:sp>
        <p:nvSpPr>
          <p:cNvPr id="4" name="TextBox 3"/>
          <p:cNvSpPr txBox="1"/>
          <p:nvPr/>
        </p:nvSpPr>
        <p:spPr>
          <a:xfrm>
            <a:off x="822960" y="868680"/>
            <a:ext cx="10607040" cy="914400"/>
          </a:xfrm>
          <a:prstGeom prst="rect">
            <a:avLst/>
          </a:prstGeom>
          <a:noFill/>
        </p:spPr>
        <p:txBody>
          <a:bodyPr wrap="square" lIns="0" rIns="0" tIns="0" bIns="0">
            <a:spAutoFit/>
          </a:bodyPr>
          <a:lstStyle/>
          <a:p>
            <a:pPr algn="l">
              <a:lnSpc>
                <a:spcPct val="115000"/>
              </a:lnSpc>
            </a:pPr>
            <a:r>
              <a:rPr sz="2500" b="1">
                <a:solidFill>
                  <a:srgbClr val="16150F"/>
                </a:solidFill>
                <a:latin typeface="Helvetica Neue"/>
              </a:rPr>
              <a:t>129 seats went one way. None came back.</a:t>
            </a:r>
          </a:p>
        </p:txBody>
      </p:sp>
      <p:pic>
        <p:nvPicPr>
          <p:cNvPr id="5" name="Picture 4" descr="03_flip_matrix.png"/>
          <p:cNvPicPr>
            <a:picLocks noChangeAspect="1"/>
          </p:cNvPicPr>
          <p:nvPr/>
        </p:nvPicPr>
        <p:blipFill>
          <a:blip r:embed="rId2"/>
          <a:stretch>
            <a:fillRect/>
          </a:stretch>
        </p:blipFill>
        <p:spPr>
          <a:xfrm>
            <a:off x="822287" y="1783080"/>
            <a:ext cx="7270825" cy="4389120"/>
          </a:xfrm>
          <a:prstGeom prst="rect">
            <a:avLst/>
          </a:prstGeom>
        </p:spPr>
      </p:pic>
      <p:sp>
        <p:nvSpPr>
          <p:cNvPr id="6" name="Rectangle 5"/>
          <p:cNvSpPr/>
          <p:nvPr/>
        </p:nvSpPr>
        <p:spPr>
          <a:xfrm>
            <a:off x="8549640" y="1874519"/>
            <a:ext cx="2834640" cy="41148"/>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2103120"/>
            <a:ext cx="2834640" cy="3291840"/>
          </a:xfrm>
          <a:prstGeom prst="rect">
            <a:avLst/>
          </a:prstGeom>
          <a:noFill/>
        </p:spPr>
        <p:txBody>
          <a:bodyPr wrap="square" lIns="0" rIns="0" tIns="0" bIns="0">
            <a:spAutoFit/>
          </a:bodyPr>
          <a:lstStyle/>
          <a:p>
            <a:pPr algn="l">
              <a:lnSpc>
                <a:spcPct val="145000"/>
              </a:lnSpc>
            </a:pPr>
            <a:r>
              <a:rPr sz="1350" b="0">
                <a:solidFill>
                  <a:srgbClr val="52514E"/>
                </a:solidFill>
                <a:latin typeface="Helvetica Neue"/>
              </a:rPr>
              <a:t>136 of 293 seats changed hands and not one moved to TMC. BJP took 129 from TMC and one from an independent; the other six went to smaller parties.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515600" cy="731520"/>
          </a:xfrm>
          <a:prstGeom prst="rect">
            <a:avLst/>
          </a:prstGeom>
          <a:noFill/>
        </p:spPr>
        <p:txBody>
          <a:bodyPr wrap="square" lIns="0" rIns="0" tIns="0" bIns="0">
            <a:spAutoFit/>
          </a:bodyPr>
          <a:lstStyle/>
          <a:p>
            <a:pPr algn="l"/>
            <a:r>
              <a:rPr sz="2800" b="1">
                <a:solidFill>
                  <a:srgbClr val="16150F"/>
                </a:solidFill>
                <a:latin typeface="Helvetica Neue"/>
              </a:rPr>
              <a:t>What this can't tell you</a:t>
            </a:r>
          </a:p>
        </p:txBody>
      </p:sp>
      <p:sp>
        <p:nvSpPr>
          <p:cNvPr id="4" name="Rectangle 3"/>
          <p:cNvSpPr/>
          <p:nvPr/>
        </p:nvSpPr>
        <p:spPr>
          <a:xfrm>
            <a:off x="822960" y="1481328"/>
            <a:ext cx="1371600" cy="457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4846320" cy="320040"/>
          </a:xfrm>
          <a:prstGeom prst="rect">
            <a:avLst/>
          </a:prstGeom>
          <a:noFill/>
        </p:spPr>
        <p:txBody>
          <a:bodyPr wrap="square" lIns="0" rIns="0" tIns="0" bIns="0">
            <a:spAutoFit/>
          </a:bodyPr>
          <a:lstStyle/>
          <a:p>
            <a:pPr algn="l"/>
            <a:r>
              <a:rPr sz="1150" b="1">
                <a:solidFill>
                  <a:srgbClr val="EB6834"/>
                </a:solidFill>
                <a:latin typeface="Helvetica Neue"/>
              </a:rPr>
              <a:t>LIMITATIONS</a:t>
            </a:r>
          </a:p>
        </p:txBody>
      </p:sp>
      <p:sp>
        <p:nvSpPr>
          <p:cNvPr id="6" name="TextBox 5"/>
          <p:cNvSpPr txBox="1"/>
          <p:nvPr/>
        </p:nvSpPr>
        <p:spPr>
          <a:xfrm>
            <a:off x="822960" y="2423160"/>
            <a:ext cx="4846320" cy="1005840"/>
          </a:xfrm>
          <a:prstGeom prst="rect">
            <a:avLst/>
          </a:prstGeom>
          <a:noFill/>
        </p:spPr>
        <p:txBody>
          <a:bodyPr wrap="square" lIns="0" rIns="0" tIns="0" bIns="0">
            <a:spAutoFit/>
          </a:bodyPr>
          <a:lstStyle/>
          <a:p>
            <a:pPr algn="l">
              <a:lnSpc>
                <a:spcPct val="140000"/>
              </a:lnSpc>
            </a:pPr>
            <a:r>
              <a:rPr sz="1450" b="0">
                <a:solidFill>
                  <a:srgbClr val="52514E"/>
                </a:solidFill>
                <a:latin typeface="Helvetica Neue"/>
              </a:rPr>
              <a:t>·  District mapping derived, not sourced</a:t>
            </a:r>
          </a:p>
        </p:txBody>
      </p:sp>
      <p:sp>
        <p:nvSpPr>
          <p:cNvPr id="7" name="TextBox 6"/>
          <p:cNvSpPr txBox="1"/>
          <p:nvPr/>
        </p:nvSpPr>
        <p:spPr>
          <a:xfrm>
            <a:off x="822960" y="2788920"/>
            <a:ext cx="4846320" cy="1005840"/>
          </a:xfrm>
          <a:prstGeom prst="rect">
            <a:avLst/>
          </a:prstGeom>
          <a:noFill/>
        </p:spPr>
        <p:txBody>
          <a:bodyPr wrap="square" lIns="0" rIns="0" tIns="0" bIns="0">
            <a:spAutoFit/>
          </a:bodyPr>
          <a:lstStyle/>
          <a:p>
            <a:pPr algn="l">
              <a:lnSpc>
                <a:spcPct val="140000"/>
              </a:lnSpc>
            </a:pPr>
            <a:r>
              <a:rPr sz="1450" b="0">
                <a:solidFill>
                  <a:srgbClr val="52514E"/>
                </a:solidFill>
                <a:latin typeface="Helvetica Neue"/>
              </a:rPr>
              <a:t>·  No cross-year candidate tracking — 543 of 2,079 names match</a:t>
            </a:r>
          </a:p>
        </p:txBody>
      </p:sp>
      <p:sp>
        <p:nvSpPr>
          <p:cNvPr id="8" name="TextBox 7"/>
          <p:cNvSpPr txBox="1"/>
          <p:nvPr/>
        </p:nvSpPr>
        <p:spPr>
          <a:xfrm>
            <a:off x="822960" y="3447287"/>
            <a:ext cx="4846320" cy="1005840"/>
          </a:xfrm>
          <a:prstGeom prst="rect">
            <a:avLst/>
          </a:prstGeom>
          <a:noFill/>
        </p:spPr>
        <p:txBody>
          <a:bodyPr wrap="square" lIns="0" rIns="0" tIns="0" bIns="0">
            <a:spAutoFit/>
          </a:bodyPr>
          <a:lstStyle/>
          <a:p>
            <a:pPr algn="l">
              <a:lnSpc>
                <a:spcPct val="140000"/>
              </a:lnSpc>
            </a:pPr>
            <a:r>
              <a:rPr sz="1450" b="0">
                <a:solidFill>
                  <a:srgbClr val="52514E"/>
                </a:solidFill>
                <a:latin typeface="Helvetica Neue"/>
              </a:rPr>
              <a:t>·  Nothing here is causal</a:t>
            </a:r>
          </a:p>
        </p:txBody>
      </p:sp>
      <p:sp>
        <p:nvSpPr>
          <p:cNvPr id="9" name="TextBox 8"/>
          <p:cNvSpPr txBox="1"/>
          <p:nvPr/>
        </p:nvSpPr>
        <p:spPr>
          <a:xfrm>
            <a:off x="6217920" y="1965960"/>
            <a:ext cx="4846320" cy="320040"/>
          </a:xfrm>
          <a:prstGeom prst="rect">
            <a:avLst/>
          </a:prstGeom>
          <a:noFill/>
        </p:spPr>
        <p:txBody>
          <a:bodyPr wrap="square" lIns="0" rIns="0" tIns="0" bIns="0">
            <a:spAutoFit/>
          </a:bodyPr>
          <a:lstStyle/>
          <a:p>
            <a:pPr algn="l"/>
            <a:r>
              <a:rPr sz="1150" b="1">
                <a:solidFill>
                  <a:srgbClr val="EB6834"/>
                </a:solidFill>
                <a:latin typeface="Helvetica Neue"/>
              </a:rPr>
              <a:t>NEXT</a:t>
            </a:r>
          </a:p>
        </p:txBody>
      </p:sp>
      <p:sp>
        <p:nvSpPr>
          <p:cNvPr id="10" name="TextBox 9"/>
          <p:cNvSpPr txBox="1"/>
          <p:nvPr/>
        </p:nvSpPr>
        <p:spPr>
          <a:xfrm>
            <a:off x="6217920" y="2423160"/>
            <a:ext cx="4846320" cy="1005840"/>
          </a:xfrm>
          <a:prstGeom prst="rect">
            <a:avLst/>
          </a:prstGeom>
          <a:noFill/>
        </p:spPr>
        <p:txBody>
          <a:bodyPr wrap="square" lIns="0" rIns="0" tIns="0" bIns="0">
            <a:spAutoFit/>
          </a:bodyPr>
          <a:lstStyle/>
          <a:p>
            <a:pPr algn="l">
              <a:lnSpc>
                <a:spcPct val="140000"/>
              </a:lnSpc>
            </a:pPr>
            <a:r>
              <a:rPr sz="1450" b="0">
                <a:solidFill>
                  <a:srgbClr val="52514E"/>
                </a:solidFill>
                <a:latin typeface="Helvetica Neue"/>
              </a:rPr>
              <a:t>·  Find what drove the roll revision</a:t>
            </a:r>
          </a:p>
        </p:txBody>
      </p:sp>
      <p:sp>
        <p:nvSpPr>
          <p:cNvPr id="11" name="TextBox 10"/>
          <p:cNvSpPr txBox="1"/>
          <p:nvPr/>
        </p:nvSpPr>
        <p:spPr>
          <a:xfrm>
            <a:off x="6217920" y="2788920"/>
            <a:ext cx="4846320" cy="1005840"/>
          </a:xfrm>
          <a:prstGeom prst="rect">
            <a:avLst/>
          </a:prstGeom>
          <a:noFill/>
        </p:spPr>
        <p:txBody>
          <a:bodyPr wrap="square" lIns="0" rIns="0" tIns="0" bIns="0">
            <a:spAutoFit/>
          </a:bodyPr>
          <a:lstStyle/>
          <a:p>
            <a:pPr algn="l">
              <a:lnSpc>
                <a:spcPct val="140000"/>
              </a:lnSpc>
            </a:pPr>
            <a:r>
              <a:rPr sz="1450" b="0">
                <a:solidFill>
                  <a:srgbClr val="52514E"/>
                </a:solidFill>
                <a:latin typeface="Helvetica Neue"/>
              </a:rPr>
              <a:t>·  Add 2016 for a three-election trend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607040" cy="914400"/>
          </a:xfrm>
          <a:prstGeom prst="rect">
            <a:avLst/>
          </a:prstGeom>
          <a:noFill/>
        </p:spPr>
        <p:txBody>
          <a:bodyPr wrap="square" lIns="0" rIns="0" tIns="0" bIns="0">
            <a:spAutoFit/>
          </a:bodyPr>
          <a:lstStyle/>
          <a:p>
            <a:pPr algn="l">
              <a:lnSpc>
                <a:spcPct val="115000"/>
              </a:lnSpc>
            </a:pPr>
            <a:r>
              <a:rPr sz="2500" b="1">
                <a:solidFill>
                  <a:srgbClr val="16150F"/>
                </a:solidFill>
                <a:latin typeface="Helvetica Neue"/>
              </a:rPr>
              <a:t>TMC 215 → 80. BJP 77 → 207.</a:t>
            </a:r>
          </a:p>
        </p:txBody>
      </p:sp>
      <p:pic>
        <p:nvPicPr>
          <p:cNvPr id="4" name="Picture 3" descr="01_seat_reversal.png"/>
          <p:cNvPicPr>
            <a:picLocks noChangeAspect="1"/>
          </p:cNvPicPr>
          <p:nvPr/>
        </p:nvPicPr>
        <p:blipFill>
          <a:blip r:embed="rId2"/>
          <a:stretch>
            <a:fillRect/>
          </a:stretch>
        </p:blipFill>
        <p:spPr>
          <a:xfrm>
            <a:off x="822287" y="1783080"/>
            <a:ext cx="7270825" cy="4389120"/>
          </a:xfrm>
          <a:prstGeom prst="rect">
            <a:avLst/>
          </a:prstGeom>
        </p:spPr>
      </p:pic>
      <p:sp>
        <p:nvSpPr>
          <p:cNvPr id="5" name="Rectangle 4"/>
          <p:cNvSpPr/>
          <p:nvPr/>
        </p:nvSpPr>
        <p:spPr>
          <a:xfrm>
            <a:off x="8549640" y="1874519"/>
            <a:ext cx="2834640" cy="41148"/>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2103120"/>
            <a:ext cx="2834640" cy="3291840"/>
          </a:xfrm>
          <a:prstGeom prst="rect">
            <a:avLst/>
          </a:prstGeom>
          <a:noFill/>
        </p:spPr>
        <p:txBody>
          <a:bodyPr wrap="square" lIns="0" rIns="0" tIns="0" bIns="0">
            <a:spAutoFit/>
          </a:bodyPr>
          <a:lstStyle/>
          <a:p>
            <a:pPr algn="l">
              <a:lnSpc>
                <a:spcPct val="145000"/>
              </a:lnSpc>
            </a:pPr>
            <a:r>
              <a:rPr sz="1350" b="0">
                <a:solidFill>
                  <a:srgbClr val="52514E"/>
                </a:solidFill>
                <a:latin typeface="Helvetica Neue"/>
              </a:rPr>
              <a:t>TMC's vote share fell from 48.5% to 41.1% and it lost 135 seats. Seats won, with each year's vote share beneath.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607040" cy="914400"/>
          </a:xfrm>
          <a:prstGeom prst="rect">
            <a:avLst/>
          </a:prstGeom>
          <a:noFill/>
        </p:spPr>
        <p:txBody>
          <a:bodyPr wrap="square" lIns="0" rIns="0" tIns="0" bIns="0">
            <a:spAutoFit/>
          </a:bodyPr>
          <a:lstStyle/>
          <a:p>
            <a:pPr algn="l">
              <a:lnSpc>
                <a:spcPct val="115000"/>
              </a:lnSpc>
            </a:pPr>
            <a:r>
              <a:rPr sz="2500" b="1">
                <a:solidFill>
                  <a:srgbClr val="16150F"/>
                </a:solidFill>
                <a:latin typeface="Helvetica Neue"/>
              </a:rPr>
              <a:t>BJP won 6 of the 8 seats decided by less than 1%</a:t>
            </a:r>
          </a:p>
        </p:txBody>
      </p:sp>
      <p:pic>
        <p:nvPicPr>
          <p:cNvPr id="4" name="Picture 3" descr="04_closest_seats_2026.png"/>
          <p:cNvPicPr>
            <a:picLocks noChangeAspect="1"/>
          </p:cNvPicPr>
          <p:nvPr/>
        </p:nvPicPr>
        <p:blipFill>
          <a:blip r:embed="rId2"/>
          <a:stretch>
            <a:fillRect/>
          </a:stretch>
        </p:blipFill>
        <p:spPr>
          <a:xfrm>
            <a:off x="822287" y="1783080"/>
            <a:ext cx="7270825" cy="4389120"/>
          </a:xfrm>
          <a:prstGeom prst="rect">
            <a:avLst/>
          </a:prstGeom>
        </p:spPr>
      </p:pic>
      <p:sp>
        <p:nvSpPr>
          <p:cNvPr id="5" name="Rectangle 4"/>
          <p:cNvSpPr/>
          <p:nvPr/>
        </p:nvSpPr>
        <p:spPr>
          <a:xfrm>
            <a:off x="8549640" y="1874519"/>
            <a:ext cx="2834640" cy="41148"/>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2103120"/>
            <a:ext cx="2834640" cy="3291840"/>
          </a:xfrm>
          <a:prstGeom prst="rect">
            <a:avLst/>
          </a:prstGeom>
          <a:noFill/>
        </p:spPr>
        <p:txBody>
          <a:bodyPr wrap="square" lIns="0" rIns="0" tIns="0" bIns="0">
            <a:spAutoFit/>
          </a:bodyPr>
          <a:lstStyle/>
          <a:p>
            <a:pPr algn="l">
              <a:lnSpc>
                <a:spcPct val="145000"/>
              </a:lnSpc>
            </a:pPr>
            <a:r>
              <a:rPr sz="1350" b="0">
                <a:solidFill>
                  <a:srgbClr val="52514E"/>
                </a:solidFill>
                <a:latin typeface="Helvetica Neue"/>
              </a:rPr>
              <a:t>Ranked on margin as a percentage of votes polled — the measure that stays comparable across seats of different size.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607040" cy="914400"/>
          </a:xfrm>
          <a:prstGeom prst="rect">
            <a:avLst/>
          </a:prstGeom>
          <a:noFill/>
        </p:spPr>
        <p:txBody>
          <a:bodyPr wrap="square" lIns="0" rIns="0" tIns="0" bIns="0">
            <a:spAutoFit/>
          </a:bodyPr>
          <a:lstStyle/>
          <a:p>
            <a:pPr algn="l">
              <a:lnSpc>
                <a:spcPct val="115000"/>
              </a:lnSpc>
            </a:pPr>
            <a:r>
              <a:rPr sz="2500" b="1">
                <a:solidFill>
                  <a:srgbClr val="16150F"/>
                </a:solidFill>
                <a:latin typeface="Helvetica Neue"/>
              </a:rPr>
              <a:t>TMC's vote share fell in every region</a:t>
            </a:r>
          </a:p>
        </p:txBody>
      </p:sp>
      <p:pic>
        <p:nvPicPr>
          <p:cNvPr id="4" name="Picture 3" descr="05_regional_swing.png"/>
          <p:cNvPicPr>
            <a:picLocks noChangeAspect="1"/>
          </p:cNvPicPr>
          <p:nvPr/>
        </p:nvPicPr>
        <p:blipFill>
          <a:blip r:embed="rId2"/>
          <a:stretch>
            <a:fillRect/>
          </a:stretch>
        </p:blipFill>
        <p:spPr>
          <a:xfrm>
            <a:off x="822287" y="1783080"/>
            <a:ext cx="7270825" cy="4389120"/>
          </a:xfrm>
          <a:prstGeom prst="rect">
            <a:avLst/>
          </a:prstGeom>
        </p:spPr>
      </p:pic>
      <p:sp>
        <p:nvSpPr>
          <p:cNvPr id="5" name="Rectangle 4"/>
          <p:cNvSpPr/>
          <p:nvPr/>
        </p:nvSpPr>
        <p:spPr>
          <a:xfrm>
            <a:off x="8549640" y="1874519"/>
            <a:ext cx="2834640" cy="41148"/>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2103120"/>
            <a:ext cx="2834640" cy="3291840"/>
          </a:xfrm>
          <a:prstGeom prst="rect">
            <a:avLst/>
          </a:prstGeom>
          <a:noFill/>
        </p:spPr>
        <p:txBody>
          <a:bodyPr wrap="square" lIns="0" rIns="0" tIns="0" bIns="0">
            <a:spAutoFit/>
          </a:bodyPr>
          <a:lstStyle/>
          <a:p>
            <a:pPr algn="l">
              <a:lnSpc>
                <a:spcPct val="145000"/>
              </a:lnSpc>
            </a:pPr>
            <a:r>
              <a:rPr sz="1350" b="0">
                <a:solidFill>
                  <a:srgbClr val="52514E"/>
                </a:solidFill>
                <a:latin typeface="Helvetica Neue"/>
              </a:rPr>
              <a:t>From 52% down to 48% in South 24 Parganas, and 50% down to 36% in Murshidabad-Nadia. Regions are derived from district, not sourced.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